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01" y="-5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FD8E0CC-1543-4133-8ECE-876F5B33788B}" type="datetimeFigureOut">
              <a:rPr lang="en-IN" smtClean="0"/>
              <a:t>23-03-2023</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D89D608-59EB-4892-8C5D-4FA70FDD920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D89D608-59EB-4892-8C5D-4FA70FDD9205}"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D89D608-59EB-4892-8C5D-4FA70FDD9205}"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D89D608-59EB-4892-8C5D-4FA70FDD9205}"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4D89D608-59EB-4892-8C5D-4FA70FDD9205}"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4D89D608-59EB-4892-8C5D-4FA70FDD9205}"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4D89D608-59EB-4892-8C5D-4FA70FDD920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CFD8E0CC-1543-4133-8ECE-876F5B33788B}" type="datetimeFigureOut">
              <a:rPr lang="en-IN" smtClean="0"/>
              <a:t>23-03-2023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D89D608-59EB-4892-8C5D-4FA70FDD9205}"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FD8E0CC-1543-4133-8ECE-876F5B33788B}" type="datetimeFigureOut">
              <a:rPr lang="en-IN" smtClean="0"/>
              <a:t>23-03-2023</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D89D608-59EB-4892-8C5D-4FA70FDD9205}"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D89D608-59EB-4892-8C5D-4FA70FDD920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FD8E0CC-1543-4133-8ECE-876F5B33788B}" type="datetimeFigureOut">
              <a:rPr lang="en-IN" smtClean="0"/>
              <a:t>23-03-2023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D89D608-59EB-4892-8C5D-4FA70FDD920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FD8E0CC-1543-4133-8ECE-876F5B33788B}" type="datetimeFigureOut">
              <a:rPr lang="en-IN" smtClean="0"/>
              <a:t>23-03-2023</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D89D608-59EB-4892-8C5D-4FA70FDD920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3033683"/>
          </a:xfrm>
        </p:spPr>
        <p:txBody>
          <a:bodyPr>
            <a:normAutofit/>
          </a:bodyPr>
          <a:lstStyle/>
          <a:p>
            <a:pPr algn="ctr"/>
            <a:r>
              <a:rPr lang="en-IN" b="0" dirty="0">
                <a:solidFill>
                  <a:schemeClr val="tx1"/>
                </a:solidFill>
                <a:effectLst/>
                <a:latin typeface="Times New Roman" panose="02020603050405020304" pitchFamily="18" charset="0"/>
                <a:cs typeface="Times New Roman" panose="02020603050405020304" pitchFamily="18" charset="0"/>
              </a:rPr>
              <a:t>Uber Supply and Demand Gap </a:t>
            </a:r>
            <a:r>
              <a:rPr lang="en-IN" b="0" dirty="0" smtClean="0">
                <a:solidFill>
                  <a:schemeClr val="tx1"/>
                </a:solidFill>
                <a:effectLst/>
                <a:latin typeface="Times New Roman" panose="02020603050405020304" pitchFamily="18" charset="0"/>
                <a:cs typeface="Times New Roman" panose="02020603050405020304" pitchFamily="18" charset="0"/>
              </a:rPr>
              <a:t>Analysis</a:t>
            </a:r>
            <a:r>
              <a:rPr lang="en-IN" dirty="0">
                <a:effectLst/>
              </a:rPr>
              <a:t/>
            </a:r>
            <a:br>
              <a:rPr lang="en-IN" dirty="0">
                <a:effectLst/>
              </a:rPr>
            </a:br>
            <a:endParaRPr lang="en-IN" dirty="0"/>
          </a:p>
        </p:txBody>
      </p:sp>
      <p:sp>
        <p:nvSpPr>
          <p:cNvPr id="3" name="Subtitle 2"/>
          <p:cNvSpPr>
            <a:spLocks noGrp="1"/>
          </p:cNvSpPr>
          <p:nvPr>
            <p:ph type="subTitle" idx="1"/>
          </p:nvPr>
        </p:nvSpPr>
        <p:spPr/>
        <p:txBody>
          <a:bodyPr/>
          <a:lstStyle/>
          <a:p>
            <a:r>
              <a:rPr lang="en-IN" dirty="0" smtClean="0">
                <a:solidFill>
                  <a:schemeClr val="tx1"/>
                </a:solidFill>
                <a:latin typeface="Times New Roman" panose="02020603050405020304" pitchFamily="18" charset="0"/>
                <a:cs typeface="Times New Roman" panose="02020603050405020304" pitchFamily="18" charset="0"/>
              </a:rPr>
              <a:t>CASE STUDY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6732240" y="5661248"/>
            <a:ext cx="216024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By:</a:t>
            </a:r>
          </a:p>
          <a:p>
            <a:r>
              <a:rPr lang="en-IN" dirty="0" smtClean="0">
                <a:latin typeface="Times New Roman" panose="02020603050405020304" pitchFamily="18" charset="0"/>
                <a:cs typeface="Times New Roman" panose="02020603050405020304" pitchFamily="18" charset="0"/>
              </a:rPr>
              <a:t>Nitish Ram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76494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IN" dirty="0" smtClean="0">
                <a:latin typeface="Times New Roman" panose="02020603050405020304" pitchFamily="18" charset="0"/>
                <a:cs typeface="Times New Roman" panose="02020603050405020304" pitchFamily="18" charset="0"/>
              </a:rPr>
              <a:t>Uber </a:t>
            </a:r>
            <a:r>
              <a:rPr lang="en-IN" dirty="0">
                <a:latin typeface="Times New Roman" panose="02020603050405020304" pitchFamily="18" charset="0"/>
                <a:cs typeface="Times New Roman" panose="02020603050405020304" pitchFamily="18" charset="0"/>
              </a:rPr>
              <a:t>Supply and Demand Gap Analysis</a:t>
            </a:r>
          </a:p>
        </p:txBody>
      </p:sp>
      <p:sp>
        <p:nvSpPr>
          <p:cNvPr id="3" name="Title 2"/>
          <p:cNvSpPr>
            <a:spLocks noGrp="1"/>
          </p:cNvSpPr>
          <p:nvPr>
            <p:ph type="title"/>
          </p:nvPr>
        </p:nvSpPr>
        <p:spPr/>
        <p:txBody>
          <a:bodyPr>
            <a:normAutofit/>
          </a:bodyPr>
          <a:lstStyle/>
          <a:p>
            <a:r>
              <a:rPr lang="en-IN" dirty="0">
                <a:solidFill>
                  <a:schemeClr val="tx1"/>
                </a:solidFill>
                <a:effectLst/>
                <a:latin typeface="Times New Roman" panose="02020603050405020304" pitchFamily="18" charset="0"/>
                <a:cs typeface="Times New Roman" panose="02020603050405020304" pitchFamily="18" charset="0"/>
              </a:rPr>
              <a:t>AIM</a:t>
            </a:r>
            <a:r>
              <a:rPr lang="en-IN" dirty="0" smtClean="0">
                <a:solidFill>
                  <a:schemeClr val="tx1"/>
                </a:solidFill>
                <a:effectLst/>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58945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IN" dirty="0">
                <a:latin typeface="Times New Roman" panose="02020603050405020304" pitchFamily="18" charset="0"/>
                <a:cs typeface="Times New Roman" panose="02020603050405020304" pitchFamily="18" charset="0"/>
              </a:rPr>
              <a:t>Analysing and visualizing the Supply and Demand. The Uber dataset is downloaded from </a:t>
            </a:r>
            <a:r>
              <a:rPr lang="en-IN" dirty="0" err="1">
                <a:latin typeface="Times New Roman" panose="02020603050405020304" pitchFamily="18" charset="0"/>
                <a:cs typeface="Times New Roman" panose="02020603050405020304" pitchFamily="18" charset="0"/>
              </a:rPr>
              <a:t>kaggle</a:t>
            </a:r>
            <a:r>
              <a:rPr lang="en-IN" dirty="0">
                <a:latin typeface="Times New Roman" panose="02020603050405020304" pitchFamily="18" charset="0"/>
                <a:cs typeface="Times New Roman" panose="02020603050405020304" pitchFamily="18" charset="0"/>
              </a:rPr>
              <a:t>. We will use POWER BI for data visualization &amp; for data analysis.</a:t>
            </a:r>
          </a:p>
          <a:p>
            <a:pPr marL="109728" indent="0">
              <a:buNone/>
            </a:pP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dirty="0">
                <a:solidFill>
                  <a:schemeClr val="tx1"/>
                </a:solidFill>
                <a:effectLst/>
                <a:latin typeface="Times New Roman" panose="02020603050405020304" pitchFamily="18" charset="0"/>
                <a:cs typeface="Times New Roman" panose="02020603050405020304" pitchFamily="18" charset="0"/>
              </a:rPr>
              <a:t>INTRODUCTION</a:t>
            </a:r>
            <a:r>
              <a:rPr lang="en-IN" dirty="0" smtClean="0">
                <a:solidFill>
                  <a:schemeClr val="tx1"/>
                </a:solidFill>
                <a:effectLst/>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4489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IN" dirty="0">
                <a:latin typeface="Times New Roman" panose="02020603050405020304" pitchFamily="18" charset="0"/>
                <a:cs typeface="Times New Roman" panose="02020603050405020304" pitchFamily="18" charset="0"/>
              </a:rPr>
              <a:t>Analysis preparation</a:t>
            </a:r>
          </a:p>
          <a:p>
            <a:pPr lvl="0"/>
            <a:r>
              <a:rPr lang="en-IN" dirty="0">
                <a:latin typeface="Times New Roman" panose="02020603050405020304" pitchFamily="18" charset="0"/>
                <a:cs typeface="Times New Roman" panose="02020603050405020304" pitchFamily="18" charset="0"/>
              </a:rPr>
              <a:t>What is total requests by status</a:t>
            </a:r>
          </a:p>
          <a:p>
            <a:pPr lvl="0"/>
            <a:r>
              <a:rPr lang="en-IN" dirty="0">
                <a:latin typeface="Times New Roman" panose="02020603050405020304" pitchFamily="18" charset="0"/>
                <a:cs typeface="Times New Roman" panose="02020603050405020304" pitchFamily="18" charset="0"/>
              </a:rPr>
              <a:t>What is total requests by pickup point</a:t>
            </a:r>
          </a:p>
          <a:p>
            <a:pPr lvl="0"/>
            <a:r>
              <a:rPr lang="en-IN" dirty="0">
                <a:latin typeface="Times New Roman" panose="02020603050405020304" pitchFamily="18" charset="0"/>
                <a:cs typeface="Times New Roman" panose="02020603050405020304" pitchFamily="18" charset="0"/>
              </a:rPr>
              <a:t>What is the Demand by date</a:t>
            </a:r>
          </a:p>
          <a:p>
            <a:pPr lvl="0"/>
            <a:r>
              <a:rPr lang="en-IN" dirty="0">
                <a:latin typeface="Times New Roman" panose="02020603050405020304" pitchFamily="18" charset="0"/>
                <a:cs typeface="Times New Roman" panose="02020603050405020304" pitchFamily="18" charset="0"/>
              </a:rPr>
              <a:t>Count of Requests and </a:t>
            </a:r>
            <a:r>
              <a:rPr lang="en-IN" dirty="0" smtClean="0">
                <a:latin typeface="Times New Roman" panose="02020603050405020304" pitchFamily="18" charset="0"/>
                <a:cs typeface="Times New Roman" panose="02020603050405020304" pitchFamily="18" charset="0"/>
              </a:rPr>
              <a:t>Drivers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dirty="0">
                <a:effectLst/>
                <a:latin typeface="Times New Roman" panose="02020603050405020304" pitchFamily="18" charset="0"/>
                <a:cs typeface="Times New Roman" panose="02020603050405020304" pitchFamily="18" charset="0"/>
              </a:rPr>
              <a:t>PROBLEM STSTEMENT</a:t>
            </a:r>
            <a:r>
              <a:rPr lang="en-IN" dirty="0" smtClean="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5287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Analysing and visualizing the Supply and Demand. The Uber dataset is downloaded from </a:t>
            </a:r>
            <a:r>
              <a:rPr lang="en-IN" dirty="0" err="1">
                <a:latin typeface="Times New Roman" panose="02020603050405020304" pitchFamily="18" charset="0"/>
                <a:cs typeface="Times New Roman" panose="02020603050405020304" pitchFamily="18" charset="0"/>
              </a:rPr>
              <a:t>kaggle</a:t>
            </a:r>
            <a:r>
              <a:rPr lang="en-IN" dirty="0">
                <a:latin typeface="Times New Roman" panose="02020603050405020304" pitchFamily="18" charset="0"/>
                <a:cs typeface="Times New Roman" panose="02020603050405020304" pitchFamily="18" charset="0"/>
              </a:rPr>
              <a:t>. We will use POWER BI for data visualization &amp; for data analysis.</a:t>
            </a:r>
          </a:p>
          <a:p>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Data </a:t>
            </a:r>
            <a:r>
              <a:rPr lang="en-IN" dirty="0">
                <a:latin typeface="Times New Roman" panose="02020603050405020304" pitchFamily="18" charset="0"/>
                <a:cs typeface="Times New Roman" panose="02020603050405020304" pitchFamily="18" charset="0"/>
              </a:rPr>
              <a:t>collecting method:</a:t>
            </a:r>
          </a:p>
          <a:p>
            <a:pPr marL="624078" indent="-514350">
              <a:buFont typeface="+mj-lt"/>
              <a:buAutoNum type="arabicPeriod"/>
            </a:pPr>
            <a:r>
              <a:rPr lang="en-IN" dirty="0">
                <a:latin typeface="Times New Roman" panose="02020603050405020304" pitchFamily="18" charset="0"/>
                <a:cs typeface="Times New Roman" panose="02020603050405020304" pitchFamily="18" charset="0"/>
              </a:rPr>
              <a:t>We imported the data into POWER BI. </a:t>
            </a:r>
          </a:p>
          <a:p>
            <a:pPr marL="624078" indent="-514350">
              <a:buFont typeface="+mj-lt"/>
              <a:buAutoNum type="arabicPeriod"/>
            </a:pPr>
            <a:r>
              <a:rPr lang="en-IN" dirty="0">
                <a:latin typeface="Times New Roman" panose="02020603050405020304" pitchFamily="18" charset="0"/>
                <a:cs typeface="Times New Roman" panose="02020603050405020304" pitchFamily="18" charset="0"/>
              </a:rPr>
              <a:t>Removed NULL values.</a:t>
            </a:r>
          </a:p>
          <a:p>
            <a:pPr marL="109728" indent="0">
              <a:buNone/>
            </a:pP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IN" dirty="0">
                <a:solidFill>
                  <a:schemeClr val="tx1"/>
                </a:solidFill>
                <a:effectLst/>
                <a:latin typeface="Times New Roman" panose="02020603050405020304" pitchFamily="18" charset="0"/>
                <a:cs typeface="Times New Roman" panose="02020603050405020304" pitchFamily="18" charset="0"/>
              </a:rPr>
              <a:t>METHODOLOGY</a:t>
            </a:r>
            <a:r>
              <a:rPr lang="en-IN"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3035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96752"/>
            <a:ext cx="8229600" cy="4810539"/>
          </a:xfrm>
        </p:spPr>
        <p:txBody>
          <a:bodyPr>
            <a:normAutofit/>
          </a:bodyPr>
          <a:lstStyle/>
          <a:p>
            <a:pPr lvl="0"/>
            <a:r>
              <a:rPr lang="en-IN" dirty="0">
                <a:latin typeface="Times New Roman" panose="02020603050405020304" pitchFamily="18" charset="0"/>
                <a:cs typeface="Times New Roman" panose="02020603050405020304" pitchFamily="18" charset="0"/>
              </a:rPr>
              <a:t>Request id</a:t>
            </a:r>
          </a:p>
          <a:p>
            <a:pPr lvl="0"/>
            <a:r>
              <a:rPr lang="en-IN" dirty="0">
                <a:latin typeface="Times New Roman" panose="02020603050405020304" pitchFamily="18" charset="0"/>
                <a:cs typeface="Times New Roman" panose="02020603050405020304" pitchFamily="18" charset="0"/>
              </a:rPr>
              <a:t>Pickup point</a:t>
            </a:r>
          </a:p>
          <a:p>
            <a:pPr lvl="0"/>
            <a:r>
              <a:rPr lang="en-IN" dirty="0">
                <a:latin typeface="Times New Roman" panose="02020603050405020304" pitchFamily="18" charset="0"/>
                <a:cs typeface="Times New Roman" panose="02020603050405020304" pitchFamily="18" charset="0"/>
              </a:rPr>
              <a:t>Driver id</a:t>
            </a:r>
          </a:p>
          <a:p>
            <a:pPr lvl="0"/>
            <a:r>
              <a:rPr lang="en-IN" dirty="0">
                <a:latin typeface="Times New Roman" panose="02020603050405020304" pitchFamily="18" charset="0"/>
                <a:cs typeface="Times New Roman" panose="02020603050405020304" pitchFamily="18" charset="0"/>
              </a:rPr>
              <a:t>Status</a:t>
            </a:r>
          </a:p>
          <a:p>
            <a:pPr lvl="0"/>
            <a:r>
              <a:rPr lang="en-IN" dirty="0">
                <a:latin typeface="Times New Roman" panose="02020603050405020304" pitchFamily="18" charset="0"/>
                <a:cs typeface="Times New Roman" panose="02020603050405020304" pitchFamily="18" charset="0"/>
              </a:rPr>
              <a:t>Request timestamp</a:t>
            </a:r>
          </a:p>
          <a:p>
            <a:pPr lvl="0"/>
            <a:r>
              <a:rPr lang="en-IN" dirty="0">
                <a:latin typeface="Times New Roman" panose="02020603050405020304" pitchFamily="18" charset="0"/>
                <a:cs typeface="Times New Roman" panose="02020603050405020304" pitchFamily="18" charset="0"/>
              </a:rPr>
              <a:t>Drop timestamp</a:t>
            </a:r>
          </a:p>
          <a:p>
            <a:pPr lvl="0"/>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sz="3200" dirty="0">
                <a:effectLst/>
                <a:latin typeface="Times New Roman" panose="02020603050405020304" pitchFamily="18" charset="0"/>
                <a:cs typeface="Times New Roman" panose="02020603050405020304" pitchFamily="18" charset="0"/>
              </a:rPr>
              <a:t>Columns in dataset</a:t>
            </a:r>
            <a:r>
              <a:rPr lang="en-IN" sz="3200" dirty="0" smtClean="0">
                <a:effectLst/>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4381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9"/>
            <a:ext cx="7427168" cy="1011567"/>
          </a:xfrm>
        </p:spPr>
        <p:txBody>
          <a:bodyPr>
            <a:normAutofit/>
          </a:bodyPr>
          <a:lstStyle/>
          <a:p>
            <a:pPr marL="109728" indent="0">
              <a:buNone/>
            </a:pPr>
            <a:r>
              <a:rPr lang="en-IN" sz="3200" b="1" i="1" dirty="0"/>
              <a:t>What is total requests by status</a:t>
            </a:r>
            <a:endParaRPr lang="en-IN" sz="3200" dirty="0"/>
          </a:p>
        </p:txBody>
      </p:sp>
      <p:sp>
        <p:nvSpPr>
          <p:cNvPr id="3" name="Title 2"/>
          <p:cNvSpPr>
            <a:spLocks noGrp="1"/>
          </p:cNvSpPr>
          <p:nvPr>
            <p:ph type="title"/>
          </p:nvPr>
        </p:nvSpPr>
        <p:spPr/>
        <p:txBody>
          <a:bodyPr/>
          <a:lstStyle/>
          <a:p>
            <a:r>
              <a:rPr lang="en-IN" dirty="0">
                <a:solidFill>
                  <a:schemeClr val="tx1"/>
                </a:solidFill>
                <a:effectLst/>
                <a:latin typeface="Times New Roman" panose="02020603050405020304" pitchFamily="18" charset="0"/>
                <a:cs typeface="Times New Roman" panose="02020603050405020304" pitchFamily="18" charset="0"/>
              </a:rPr>
              <a:t>ANALYSIS</a:t>
            </a:r>
            <a:r>
              <a:rPr lang="en-IN"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0" y="2204864"/>
            <a:ext cx="9144000" cy="4653136"/>
          </a:xfrm>
          <a:prstGeom prst="rect">
            <a:avLst/>
          </a:prstGeom>
        </p:spPr>
      </p:pic>
      <p:sp>
        <p:nvSpPr>
          <p:cNvPr id="8" name="TextBox 7"/>
          <p:cNvSpPr txBox="1"/>
          <p:nvPr/>
        </p:nvSpPr>
        <p:spPr>
          <a:xfrm>
            <a:off x="4716016" y="5085184"/>
            <a:ext cx="4176464" cy="923330"/>
          </a:xfrm>
          <a:prstGeom prst="rect">
            <a:avLst/>
          </a:prstGeom>
          <a:noFill/>
        </p:spPr>
        <p:txBody>
          <a:bodyPr wrap="square" rtlCol="0">
            <a:spAutoFit/>
          </a:bodyPr>
          <a:lstStyle/>
          <a:p>
            <a:r>
              <a:rPr lang="en-IN" dirty="0">
                <a:solidFill>
                  <a:schemeClr val="tx1">
                    <a:lumMod val="75000"/>
                    <a:lumOff val="25000"/>
                  </a:schemeClr>
                </a:solidFill>
                <a:latin typeface="Times New Roman" panose="02020603050405020304" pitchFamily="18" charset="0"/>
                <a:cs typeface="Times New Roman" panose="02020603050405020304" pitchFamily="18" charset="0"/>
              </a:rPr>
              <a:t>Trip Completed had the highest Count of Request id at 2,831, followed by No Cars Available at 2,650 and Cancelled at 1,264.</a:t>
            </a:r>
          </a:p>
        </p:txBody>
      </p:sp>
    </p:spTree>
    <p:extLst>
      <p:ext uri="{BB962C8B-B14F-4D97-AF65-F5344CB8AC3E}">
        <p14:creationId xmlns:p14="http://schemas.microsoft.com/office/powerpoint/2010/main" val="39123866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normAutofit/>
          </a:bodyPr>
          <a:lstStyle/>
          <a:p>
            <a:r>
              <a:rPr lang="en-IN" sz="3200" i="1" dirty="0">
                <a:effectLst/>
              </a:rPr>
              <a:t>What is total requests by pickup point</a:t>
            </a:r>
            <a:endParaRPr lang="en-IN" sz="3200" dirty="0">
              <a:effectLst/>
            </a:endParaRPr>
          </a:p>
        </p:txBody>
      </p:sp>
      <p:pic>
        <p:nvPicPr>
          <p:cNvPr id="5" name="Picture 4"/>
          <p:cNvPicPr/>
          <p:nvPr/>
        </p:nvPicPr>
        <p:blipFill>
          <a:blip r:embed="rId2"/>
          <a:stretch>
            <a:fillRect/>
          </a:stretch>
        </p:blipFill>
        <p:spPr>
          <a:xfrm>
            <a:off x="0" y="1196752"/>
            <a:ext cx="9144000" cy="5661248"/>
          </a:xfrm>
          <a:prstGeom prst="rect">
            <a:avLst/>
          </a:prstGeom>
        </p:spPr>
      </p:pic>
      <p:sp>
        <p:nvSpPr>
          <p:cNvPr id="6" name="TextBox 5"/>
          <p:cNvSpPr txBox="1"/>
          <p:nvPr/>
        </p:nvSpPr>
        <p:spPr>
          <a:xfrm>
            <a:off x="2699792" y="1340768"/>
            <a:ext cx="6192688" cy="923330"/>
          </a:xfrm>
          <a:prstGeom prst="rect">
            <a:avLst/>
          </a:prstGeom>
          <a:noFill/>
        </p:spPr>
        <p:txBody>
          <a:bodyPr wrap="square" rtlCol="0">
            <a:spAutoFit/>
          </a:bodyPr>
          <a:lstStyle/>
          <a:p>
            <a:r>
              <a:rPr lang="en-IN" dirty="0">
                <a:solidFill>
                  <a:schemeClr val="tx1">
                    <a:lumMod val="75000"/>
                    <a:lumOff val="25000"/>
                  </a:schemeClr>
                </a:solidFill>
                <a:latin typeface="Times New Roman" panose="02020603050405020304" pitchFamily="18" charset="0"/>
                <a:cs typeface="Times New Roman" panose="02020603050405020304" pitchFamily="18" charset="0"/>
              </a:rPr>
              <a:t>Trip Completed had the highest average Count of Request id at 1,415.50, followed by No Cars Available at 1325 and Cancelled at 632.</a:t>
            </a:r>
          </a:p>
        </p:txBody>
      </p:sp>
    </p:spTree>
    <p:extLst>
      <p:ext uri="{BB962C8B-B14F-4D97-AF65-F5344CB8AC3E}">
        <p14:creationId xmlns:p14="http://schemas.microsoft.com/office/powerpoint/2010/main" val="33558050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485428672"/>
              </p:ext>
            </p:extLst>
          </p:nvPr>
        </p:nvGraphicFramePr>
        <p:xfrm>
          <a:off x="467544" y="1556793"/>
          <a:ext cx="8172400" cy="5234998"/>
        </p:xfrm>
        <a:graphic>
          <a:graphicData uri="http://schemas.openxmlformats.org/drawingml/2006/table">
            <a:tbl>
              <a:tblPr firstRow="1" firstCol="1" bandRow="1">
                <a:tableStyleId>{5C22544A-7EE6-4342-B048-85BDC9FD1C3A}</a:tableStyleId>
              </a:tblPr>
              <a:tblGrid>
                <a:gridCol w="944006"/>
                <a:gridCol w="1267666"/>
                <a:gridCol w="890064"/>
                <a:gridCol w="2238644"/>
                <a:gridCol w="2832020"/>
              </a:tblGrid>
              <a:tr h="1048201">
                <a:tc>
                  <a:txBody>
                    <a:bodyPr/>
                    <a:lstStyle/>
                    <a:p>
                      <a:pPr>
                        <a:lnSpc>
                          <a:spcPct val="115000"/>
                        </a:lnSpc>
                        <a:spcAft>
                          <a:spcPts val="0"/>
                        </a:spcAft>
                      </a:pPr>
                      <a:r>
                        <a:rPr lang="en-IN" sz="1100" dirty="0">
                          <a:effectLst/>
                        </a:rPr>
                        <a:t>Year</a:t>
                      </a:r>
                      <a:endParaRPr lang="en-IN" sz="1100" dirty="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Month</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Day</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dirty="0">
                          <a:effectLst/>
                        </a:rPr>
                        <a:t>Status</a:t>
                      </a:r>
                      <a:endParaRPr lang="en-IN" sz="1100" dirty="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Count of Request id</a:t>
                      </a:r>
                      <a:endParaRPr lang="en-IN" sz="1100">
                        <a:effectLst/>
                        <a:latin typeface="Calibri"/>
                        <a:ea typeface="Calibri"/>
                        <a:cs typeface="Times New Roman"/>
                      </a:endParaRPr>
                    </a:p>
                  </a:txBody>
                  <a:tcPr marL="68580" marR="68580" marT="0" marB="0" anchor="b"/>
                </a:tc>
              </a:tr>
              <a:tr h="274798">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1264</a:t>
                      </a:r>
                      <a:endParaRPr lang="en-IN" sz="1100">
                        <a:effectLst/>
                        <a:latin typeface="Calibri"/>
                        <a:ea typeface="Calibri"/>
                        <a:cs typeface="Times New Roman"/>
                      </a:endParaRPr>
                    </a:p>
                  </a:txBody>
                  <a:tcPr marL="68580" marR="68580" marT="0" marB="0" anchor="b"/>
                </a:tc>
              </a:tr>
              <a:tr h="558857">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pPr>
                      <a:endParaRPr lang="en-IN" sz="1100">
                        <a:effectLst/>
                        <a:latin typeface="Calibri"/>
                        <a:cs typeface="Times New Roman"/>
                      </a:endParaRPr>
                    </a:p>
                  </a:txBody>
                  <a:tcPr marL="68580" marR="68580" marT="0" marB="0" anchor="b"/>
                </a:tc>
                <a:tc>
                  <a:txBody>
                    <a:bodyPr/>
                    <a:lstStyle/>
                    <a:p>
                      <a:pPr>
                        <a:lnSpc>
                          <a:spcPct val="115000"/>
                        </a:lnSpc>
                        <a:spcAft>
                          <a:spcPts val="0"/>
                        </a:spcAft>
                      </a:pPr>
                      <a:r>
                        <a:rPr lang="en-IN" sz="1100" dirty="0">
                          <a:effectLst/>
                        </a:rPr>
                        <a:t>No Cars Available</a:t>
                      </a:r>
                      <a:endParaRPr lang="en-IN" sz="1100" dirty="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2650</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11</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582</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12</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568</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13</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569</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14</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536</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15</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546</a:t>
                      </a:r>
                      <a:endParaRPr lang="en-IN" sz="1100">
                        <a:effectLst/>
                        <a:latin typeface="Calibri"/>
                        <a:ea typeface="Calibri"/>
                        <a:cs typeface="Times New Roman"/>
                      </a:endParaRPr>
                    </a:p>
                  </a:txBody>
                  <a:tcPr marL="68580" marR="68580" marT="0" marB="0" anchor="b"/>
                </a:tc>
              </a:tr>
              <a:tr h="558857">
                <a:tc>
                  <a:txBody>
                    <a:bodyPr/>
                    <a:lstStyle/>
                    <a:p>
                      <a:pPr algn="r">
                        <a:lnSpc>
                          <a:spcPct val="115000"/>
                        </a:lnSpc>
                        <a:spcAft>
                          <a:spcPts val="0"/>
                        </a:spcAft>
                      </a:pPr>
                      <a:r>
                        <a:rPr lang="en-IN" sz="1100" dirty="0">
                          <a:effectLst/>
                        </a:rPr>
                        <a:t>2016</a:t>
                      </a:r>
                      <a:endParaRPr lang="en-IN" sz="1100" dirty="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dirty="0">
                          <a:effectLst/>
                        </a:rPr>
                        <a:t>30</a:t>
                      </a:r>
                      <a:endParaRPr lang="en-IN" sz="1100" dirty="0">
                        <a:effectLst/>
                        <a:latin typeface="Calibri"/>
                        <a:ea typeface="Calibri"/>
                        <a:cs typeface="Times New Roman"/>
                      </a:endParaRPr>
                    </a:p>
                  </a:txBody>
                  <a:tcPr marL="68580" marR="68580" marT="0" marB="0" anchor="b"/>
                </a:tc>
              </a:tr>
            </a:tbl>
          </a:graphicData>
        </a:graphic>
      </p:graphicFrame>
      <p:sp>
        <p:nvSpPr>
          <p:cNvPr id="3" name="Title 2"/>
          <p:cNvSpPr>
            <a:spLocks noGrp="1"/>
          </p:cNvSpPr>
          <p:nvPr>
            <p:ph type="title"/>
          </p:nvPr>
        </p:nvSpPr>
        <p:spPr>
          <a:xfrm>
            <a:off x="323528" y="53752"/>
            <a:ext cx="8229600" cy="1143000"/>
          </a:xfrm>
        </p:spPr>
        <p:txBody>
          <a:bodyPr>
            <a:normAutofit/>
          </a:bodyPr>
          <a:lstStyle/>
          <a:p>
            <a:r>
              <a:rPr lang="en-IN" sz="3200" i="1" dirty="0">
                <a:effectLst/>
                <a:latin typeface="Times New Roman" panose="02020603050405020304" pitchFamily="18" charset="0"/>
                <a:cs typeface="Times New Roman" panose="02020603050405020304" pitchFamily="18" charset="0"/>
              </a:rPr>
              <a:t>What is the Demand by date</a:t>
            </a:r>
            <a:endParaRPr lang="en-IN" sz="3200" dirty="0">
              <a:effectLst/>
              <a:latin typeface="Times New Roman" panose="02020603050405020304" pitchFamily="18" charset="0"/>
              <a:cs typeface="Times New Roman" panose="02020603050405020304" pitchFamily="18" charset="0"/>
            </a:endParaRPr>
          </a:p>
        </p:txBody>
      </p:sp>
      <p:sp>
        <p:nvSpPr>
          <p:cNvPr id="8" name="TextBox 7"/>
          <p:cNvSpPr txBox="1"/>
          <p:nvPr/>
        </p:nvSpPr>
        <p:spPr>
          <a:xfrm>
            <a:off x="395536" y="1052736"/>
            <a:ext cx="5328592"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Drop time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2283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9552" y="98167"/>
            <a:ext cx="5328592"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Request time</a:t>
            </a:r>
            <a:endParaRPr lang="en-IN" sz="20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01038943"/>
              </p:ext>
            </p:extLst>
          </p:nvPr>
        </p:nvGraphicFramePr>
        <p:xfrm>
          <a:off x="-3" y="676730"/>
          <a:ext cx="9144002" cy="6181264"/>
        </p:xfrm>
        <a:graphic>
          <a:graphicData uri="http://schemas.openxmlformats.org/drawingml/2006/table">
            <a:tbl>
              <a:tblPr firstRow="1" firstCol="1" bandRow="1">
                <a:tableStyleId>{5C22544A-7EE6-4342-B048-85BDC9FD1C3A}</a:tableStyleId>
              </a:tblPr>
              <a:tblGrid>
                <a:gridCol w="1056238"/>
                <a:gridCol w="1418376"/>
                <a:gridCol w="995880"/>
                <a:gridCol w="2504794"/>
                <a:gridCol w="3168714"/>
              </a:tblGrid>
              <a:tr h="386329">
                <a:tc>
                  <a:txBody>
                    <a:bodyPr/>
                    <a:lstStyle/>
                    <a:p>
                      <a:pPr>
                        <a:lnSpc>
                          <a:spcPct val="115000"/>
                        </a:lnSpc>
                        <a:spcAft>
                          <a:spcPts val="0"/>
                        </a:spcAft>
                      </a:pPr>
                      <a:r>
                        <a:rPr lang="en-IN" sz="1100">
                          <a:effectLst/>
                        </a:rPr>
                        <a:t>Year</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Month</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Day</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Status</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Count of Request id</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11</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262</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11</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No Cars Available</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504</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11</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601</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12</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240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12</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No Cars Available</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505</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12</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562</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13</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270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13</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No Cars Available</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490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13</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577</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14</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252</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14</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No Cars Available</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571</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14</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530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15</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Cancelled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240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15</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No Cars Available</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580</a:t>
                      </a:r>
                      <a:endParaRPr lang="en-IN" sz="1100">
                        <a:effectLst/>
                        <a:latin typeface="Calibri"/>
                        <a:ea typeface="Calibri"/>
                        <a:cs typeface="Times New Roman"/>
                      </a:endParaRPr>
                    </a:p>
                  </a:txBody>
                  <a:tcPr marL="68580" marR="68580" marT="0" marB="0" anchor="b"/>
                </a:tc>
              </a:tr>
              <a:tr h="386329">
                <a:tc>
                  <a:txBody>
                    <a:bodyPr/>
                    <a:lstStyle/>
                    <a:p>
                      <a:pPr algn="r">
                        <a:lnSpc>
                          <a:spcPct val="115000"/>
                        </a:lnSpc>
                        <a:spcAft>
                          <a:spcPts val="0"/>
                        </a:spcAft>
                      </a:pPr>
                      <a:r>
                        <a:rPr lang="en-IN" sz="1100">
                          <a:effectLst/>
                        </a:rPr>
                        <a:t>2016</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July</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a:effectLst/>
                        </a:rPr>
                        <a:t>15</a:t>
                      </a:r>
                      <a:endParaRPr lang="en-IN" sz="1100">
                        <a:effectLst/>
                        <a:latin typeface="Calibri"/>
                        <a:ea typeface="Calibri"/>
                        <a:cs typeface="Times New Roman"/>
                      </a:endParaRPr>
                    </a:p>
                  </a:txBody>
                  <a:tcPr marL="68580" marR="68580" marT="0" marB="0" anchor="b"/>
                </a:tc>
                <a:tc>
                  <a:txBody>
                    <a:bodyPr/>
                    <a:lstStyle/>
                    <a:p>
                      <a:pPr>
                        <a:lnSpc>
                          <a:spcPct val="115000"/>
                        </a:lnSpc>
                        <a:spcAft>
                          <a:spcPts val="0"/>
                        </a:spcAft>
                      </a:pPr>
                      <a:r>
                        <a:rPr lang="en-IN" sz="1100">
                          <a:effectLst/>
                        </a:rPr>
                        <a:t>Trip Completed</a:t>
                      </a:r>
                      <a:endParaRPr lang="en-IN" sz="1100">
                        <a:effectLst/>
                        <a:latin typeface="Calibri"/>
                        <a:ea typeface="Calibri"/>
                        <a:cs typeface="Times New Roman"/>
                      </a:endParaRPr>
                    </a:p>
                  </a:txBody>
                  <a:tcPr marL="68580" marR="68580" marT="0" marB="0" anchor="b"/>
                </a:tc>
                <a:tc>
                  <a:txBody>
                    <a:bodyPr/>
                    <a:lstStyle/>
                    <a:p>
                      <a:pPr algn="r">
                        <a:lnSpc>
                          <a:spcPct val="115000"/>
                        </a:lnSpc>
                        <a:spcAft>
                          <a:spcPts val="0"/>
                        </a:spcAft>
                      </a:pPr>
                      <a:r>
                        <a:rPr lang="en-IN" sz="1100" dirty="0">
                          <a:effectLst/>
                        </a:rPr>
                        <a:t>561</a:t>
                      </a:r>
                      <a:endParaRPr lang="en-IN" sz="1100" dirty="0">
                        <a:effectLst/>
                        <a:latin typeface="Calibri"/>
                        <a:ea typeface="Calibri"/>
                        <a:cs typeface="Times New Roman"/>
                      </a:endParaRPr>
                    </a:p>
                  </a:txBody>
                  <a:tcPr marL="68580" marR="68580" marT="0" marB="0" anchor="b"/>
                </a:tc>
              </a:tr>
            </a:tbl>
          </a:graphicData>
        </a:graphic>
      </p:graphicFrame>
    </p:spTree>
    <p:extLst>
      <p:ext uri="{BB962C8B-B14F-4D97-AF65-F5344CB8AC3E}">
        <p14:creationId xmlns:p14="http://schemas.microsoft.com/office/powerpoint/2010/main" val="21510742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IN" sz="3200" i="1" dirty="0">
                <a:effectLst/>
                <a:latin typeface="Times New Roman" panose="02020603050405020304" pitchFamily="18" charset="0"/>
                <a:cs typeface="Times New Roman" panose="02020603050405020304" pitchFamily="18" charset="0"/>
              </a:rPr>
              <a:t>Count of Requests and Drivers</a:t>
            </a:r>
            <a:endParaRPr lang="en-IN" sz="3200" dirty="0">
              <a:effectLst/>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0" y="1340768"/>
            <a:ext cx="9144000" cy="5517231"/>
          </a:xfrm>
          <a:prstGeom prst="rect">
            <a:avLst/>
          </a:prstGeom>
        </p:spPr>
      </p:pic>
      <p:sp>
        <p:nvSpPr>
          <p:cNvPr id="7" name="TextBox 6"/>
          <p:cNvSpPr txBox="1"/>
          <p:nvPr/>
        </p:nvSpPr>
        <p:spPr>
          <a:xfrm>
            <a:off x="4499992" y="2924944"/>
            <a:ext cx="4536504" cy="1477328"/>
          </a:xfrm>
          <a:prstGeom prst="rect">
            <a:avLst/>
          </a:prstGeom>
          <a:noFill/>
        </p:spPr>
        <p:txBody>
          <a:bodyPr wrap="square" rtlCol="0">
            <a:spAutoFit/>
          </a:bodyPr>
          <a:lstStyle/>
          <a:p>
            <a:r>
              <a:rPr lang="en-IN" dirty="0">
                <a:solidFill>
                  <a:schemeClr val="tx1">
                    <a:lumMod val="85000"/>
                    <a:lumOff val="15000"/>
                  </a:schemeClr>
                </a:solidFill>
                <a:latin typeface="Times New Roman" panose="02020603050405020304" pitchFamily="18" charset="0"/>
                <a:cs typeface="Times New Roman" panose="02020603050405020304" pitchFamily="18" charset="0"/>
              </a:rPr>
              <a:t>No Cars Available had 2,650 Count of Request id and 1 Count of Driver id. Trip Completed had 2,831 Count of Request id and 300 Count of Driver id. Cancelled had 1,264 Count of Request id and 295 Count of Driver id.</a:t>
            </a:r>
          </a:p>
        </p:txBody>
      </p:sp>
    </p:spTree>
    <p:extLst>
      <p:ext uri="{BB962C8B-B14F-4D97-AF65-F5344CB8AC3E}">
        <p14:creationId xmlns:p14="http://schemas.microsoft.com/office/powerpoint/2010/main" val="124874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84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186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Request id, Pickup point, Driver id, Status, Request timestamp, Drop timestamp are mainly used for the analyse the dataset.</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dirty="0">
                <a:solidFill>
                  <a:schemeClr val="tx1"/>
                </a:solidFill>
                <a:effectLst/>
                <a:latin typeface="Times New Roman" panose="02020603050405020304" pitchFamily="18" charset="0"/>
                <a:cs typeface="Times New Roman" panose="02020603050405020304" pitchFamily="18" charset="0"/>
              </a:rPr>
              <a:t>INSIGHTS</a:t>
            </a:r>
            <a:r>
              <a:rPr lang="en-IN" dirty="0" smtClean="0">
                <a:solidFill>
                  <a:schemeClr val="tx1"/>
                </a:solidFill>
                <a:effectLst/>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63097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Trip Completed had the highest Count of Request id at 2,831, followed by No Cars Available at 2,650 and Cancelled at 1,264. </a:t>
            </a:r>
            <a:endParaRPr lang="en-IN" sz="24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Trip </a:t>
            </a:r>
            <a:r>
              <a:rPr lang="en-IN" sz="2400" dirty="0">
                <a:latin typeface="Times New Roman" panose="02020603050405020304" pitchFamily="18" charset="0"/>
                <a:cs typeface="Times New Roman" panose="02020603050405020304" pitchFamily="18" charset="0"/>
              </a:rPr>
              <a:t>Completed had the highest average Count of Request id at 1,415.50, followed by No Cars Available at 1325 and Cancelled at 632. </a:t>
            </a:r>
            <a:endParaRPr lang="en-IN" sz="24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No </a:t>
            </a:r>
            <a:r>
              <a:rPr lang="en-IN" sz="2400" dirty="0">
                <a:latin typeface="Times New Roman" panose="02020603050405020304" pitchFamily="18" charset="0"/>
                <a:cs typeface="Times New Roman" panose="02020603050405020304" pitchFamily="18" charset="0"/>
              </a:rPr>
              <a:t>Cars Available had 2,650 Count of Request id and 1 Count of Driver id. Trip Completed had 2,831 Count of Request id and 300 Count of Driver id. Cancelled had 1,264 Count of Request id and 295 Count of Driver id. </a:t>
            </a:r>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dirty="0">
                <a:solidFill>
                  <a:schemeClr val="tx1"/>
                </a:solidFill>
                <a:effectLst/>
                <a:latin typeface="Times New Roman" panose="02020603050405020304" pitchFamily="18" charset="0"/>
                <a:cs typeface="Times New Roman" panose="02020603050405020304" pitchFamily="18" charset="0"/>
              </a:rPr>
              <a:t>CONCLUSION</a:t>
            </a:r>
            <a:r>
              <a:rPr lang="en-IN" dirty="0" smtClean="0">
                <a:solidFill>
                  <a:schemeClr val="tx1"/>
                </a:solidFill>
                <a:effectLst/>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3044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16</TotalTime>
  <Words>537</Words>
  <Application>Microsoft Office PowerPoint</Application>
  <PresentationFormat>On-screen Show (4:3)</PresentationFormat>
  <Paragraphs>163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Concourse</vt:lpstr>
      <vt:lpstr>Uber Supply and Demand Gap Analysis </vt:lpstr>
      <vt:lpstr>AIM:</vt:lpstr>
      <vt:lpstr>INTRODUCTION:</vt:lpstr>
      <vt:lpstr>PROBLEM STSTEMENT:</vt:lpstr>
      <vt:lpstr>METHODOLOGY:</vt:lpstr>
      <vt:lpstr>Columns in dataset:</vt:lpstr>
      <vt:lpstr>ANALYSIS:</vt:lpstr>
      <vt:lpstr>What is total requests by pickup point</vt:lpstr>
      <vt:lpstr>What is the Demand by date</vt:lpstr>
      <vt:lpstr>PowerPoint Presentation</vt:lpstr>
      <vt:lpstr>Count of Requests and Drivers</vt:lpstr>
      <vt:lpstr>PowerPoint Presentation</vt:lpstr>
      <vt:lpstr>INSIGHTS:</vt:lpstr>
      <vt:lpstr>CONCLUSION: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Supply and Demand Gap Analysis</dc:title>
  <dc:creator>Nitish Ram</dc:creator>
  <cp:lastModifiedBy>Nitish Ram</cp:lastModifiedBy>
  <cp:revision>2</cp:revision>
  <dcterms:created xsi:type="dcterms:W3CDTF">2023-03-23T14:40:50Z</dcterms:created>
  <dcterms:modified xsi:type="dcterms:W3CDTF">2023-03-23T14:57:41Z</dcterms:modified>
</cp:coreProperties>
</file>